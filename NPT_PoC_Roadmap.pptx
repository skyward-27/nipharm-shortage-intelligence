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32F55"/>
          </a:solidFill>
          <a:ln w="12700">
            <a:solidFill>
              <a:srgbClr val="132F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27432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27432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27432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024128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024128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1024128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024128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024128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773936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773936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773936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773936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773936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523744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523744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2523744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2523744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523744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3273552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3273552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3273552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3273552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273552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402336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402336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78040" y="402336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402336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4023360"/>
            <a:ext cx="54864" cy="54864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48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NPT STOCK INTELLIGENCE UNIT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9601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Drug Price Intelligence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57200" y="1645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</a:rPr>
              <a:t>Proof of Concept Roadmap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457200" y="228600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468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4-Week Sprint Plan  |  Free Data Only  |  Live Predictions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2971800"/>
            <a:ext cx="1600200" cy="594360"/>
          </a:xfrm>
          <a:prstGeom prst="rect">
            <a:avLst/>
          </a:prstGeom>
          <a:solidFill>
            <a:srgbClr val="1A3D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9718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Weeks to PoC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94560" y="2971800"/>
            <a:ext cx="1600200" cy="594360"/>
          </a:xfrm>
          <a:prstGeom prst="rect">
            <a:avLst/>
          </a:prstGeom>
          <a:solidFill>
            <a:srgbClr val="1A3D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94560" y="29718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50+ Molecules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31920" y="2971800"/>
            <a:ext cx="1600200" cy="594360"/>
          </a:xfrm>
          <a:prstGeom prst="rect">
            <a:avLst/>
          </a:prstGeom>
          <a:solidFill>
            <a:srgbClr val="1A3D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0" y="29718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£0 Data Cost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480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March 2026  |  Version 1.0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We're Building in 4 Weeks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A working prototype that proves the core value: predicting which drugs are about to get expensive — using only free data.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2744"/>
                </a:solidFill>
              </a:rPr>
              <a:t>50+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</a:rPr>
              <a:t>Molecules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</a:rPr>
              <a:t>Tracked Live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High-risk generics from NHSBSA concession history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2744"/>
                </a:solidFill>
              </a:rPr>
              <a:t>10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</a:rPr>
              <a:t>Free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</a:rPr>
              <a:t>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420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NHSBSA, OpenPrescribing, CPE, yfinance, BoE and more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91440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1440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515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2744"/>
                </a:solidFill>
              </a:rPr>
              <a:t>&gt;50%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30936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</a:rPr>
              <a:t>Backtest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</a:rPr>
              <a:t>Accuracy Target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5420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Predict 2023–25 concession events using historical signals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850392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PoC Definition of Done: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 Streamlit dashboard, live on a local server, showing real-time risk scores and buying recommendations for 50+ molecules — with a backtesting report proving &gt;50% historical prediction accuracy. Zero paid data required.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Free Data Sources — All £0 Cost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Every signal in the PoC comes from publicly available or free-tier APIs. Paid sources (WaveData) are deferred to Phase 2.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67912" y="914400"/>
            <a:ext cx="475488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67912" y="9144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T1+T2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38912" y="868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NHSBSA Open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43000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Drug Tariff prices (historical + current), price concession records, dispensing data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914400"/>
            <a:ext cx="47548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9144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73752" y="868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OpenPrescribing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73752" y="1143000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Monthly Rx volumes per BNF code — detect demand surges before they hit supply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6276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627632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67912" y="1719072"/>
            <a:ext cx="47548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17190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8912" y="1673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CPE Website (scrape)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1947672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Active price concession requests from pharmacies — a real-time distress signal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9160" y="16276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627632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752" y="1719072"/>
            <a:ext cx="47548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17190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73752" y="1673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yfinance (Yahoo)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1947672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GBP/INR, GBP/CNY, energy futures, Brent crude — free Python library, daily refresh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43230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432304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67912" y="2523744"/>
            <a:ext cx="47548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25237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T1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38912" y="2478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Bank of England 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" y="2752344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Official sterling exchange rates and base rate history — authoritative and free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243230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432304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02752" y="2523744"/>
            <a:ext cx="47548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25237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73752" y="2478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NICE RSS Feeds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73752" y="2752344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Technology appraisal pipeline — upcoming drug approvals that will spike demand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23697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236976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67912" y="3328416"/>
            <a:ext cx="47548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67912" y="33284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T2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38912" y="32826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MHRA / GOV.UK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8912" y="3557016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Public shortage notifications, GMP warnings, marketing authorisation status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323697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236976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02752" y="3328416"/>
            <a:ext cx="47548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2752" y="33284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873752" y="32826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ClinicalTrials.gov API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73752" y="3557016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Phase III trials by molecule — predicts new indications and demand surges ahead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404164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4041648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67912" y="4133088"/>
            <a:ext cx="47548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67912" y="41330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38912" y="4087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pytrends (Google)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38912" y="4361688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Google Trends for condition/drug searches — early social demand signal, free Python library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09160" y="404164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09160" y="4041648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02752" y="4133088"/>
            <a:ext cx="47548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02752" y="41330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T1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873752" y="4087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EMA EPAR Database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873752" y="4361688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Biosimilar listing and reference biologic data — free EU regulatory database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4736592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Tier 1 Signal (3–12 months)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00400" y="4736592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Tier 2 Signal (1–3 months)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126480" y="4736592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Regulatory Intelligence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4-Week PoC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Two sprints of two weeks each. Clear deliverable gate at end of every week. Full demo at end of Week 4.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0116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 Foundation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14016" y="841248"/>
            <a:ext cx="201168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4016" y="8412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14016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Signal Engine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07992" y="841248"/>
            <a:ext cx="20116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8412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07992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Prediction Model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601968" y="841248"/>
            <a:ext cx="201168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8412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01968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Dashboard &amp; Demo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13350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4904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1335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Set up n8n (self-hosted, free)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17922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19476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17922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NHSBSA Drug Tariff PDF parser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2494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4048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2494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5-yr historical concession data pull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7066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8620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7066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OpenPrescribing API connector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1638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3192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1638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yfinance GBP/INR daily feed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6210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7764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SQLite database schema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0782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2336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0782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Define top-50 molecule watchlist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414016" y="13350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05456" y="1490472"/>
            <a:ext cx="91440" cy="914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60904" y="1335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Unprofitable Floor Calculator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414016" y="17922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05456" y="1947672"/>
            <a:ext cx="91440" cy="914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60904" y="17922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Generic manufacturer count tracker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414016" y="22494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05456" y="2404872"/>
            <a:ext cx="91440" cy="914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60904" y="22494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CPE website scraper (live concessions)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14016" y="27066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05456" y="2862072"/>
            <a:ext cx="91440" cy="914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60904" y="27066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NICE RSS feed watcher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414016" y="31638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05456" y="3319272"/>
            <a:ext cx="91440" cy="914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60904" y="31638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MHRA shortage alert scraper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414016" y="36210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05456" y="3776472"/>
            <a:ext cx="91440" cy="914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60904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Signal scoring engine (rules-based)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414016" y="40782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05456" y="4233672"/>
            <a:ext cx="91440" cy="914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60904" y="40782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Tier 1 + Tier 2 signal dashboard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07992" y="13350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99432" y="14904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1335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Historical model training (sklearn)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07992" y="17922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99432" y="19476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17922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Backtesting: 2023–25 concessions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507992" y="22494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99432" y="24048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22494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6-action buying recommendation logic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507992" y="27066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99432" y="28620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27066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Push/pull force weighting layer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507992" y="31638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99432" y="33192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0" y="31638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Patent cliff detector (manual + free APIs)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07992" y="36210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99432" y="37764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54880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Alert threshold configuration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507992" y="40782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99432" y="42336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54880" y="40782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 accuracy report (internal)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601968" y="13350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93408" y="149047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48856" y="1335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Streamlit dashboard (all screens)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601968" y="17922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93408" y="194767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48856" y="17922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Weekly intelligence email briefing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601968" y="22494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693408" y="240487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48856" y="22494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Full system integration test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601968" y="27066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93408" y="286207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48856" y="27066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Validated: 3+ live predictions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601968" y="31638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93408" y="331927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48856" y="31638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Demo to procurement team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601968" y="362102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93408" y="377647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48856" y="36210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Gaps doc: what paid data unlocks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601968" y="4078224"/>
            <a:ext cx="20116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93408" y="423367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848856" y="40782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Phase 2 scope sign-off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320040" y="4636008"/>
            <a:ext cx="201168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0040" y="4636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Pipelines live, data flowing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414016" y="4636008"/>
            <a:ext cx="2011680" cy="228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414016" y="4636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All signals scoring, alerts set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507992" y="4636008"/>
            <a:ext cx="201168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507992" y="4636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Model trained, backtest complete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601968" y="4636008"/>
            <a:ext cx="201168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01968" y="4636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Live demo delivered ✓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Week 1 — Data Foundation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Get all free data sources flowing into a structured database. No intelligence yet — just clean, reliable data pipelines.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1097280" cy="2286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1 / 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75488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7548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TASKS &amp; DELIVERABLES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n8n self-hosted install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426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Deploy n8n Community on a local/team server. Free. All workflows run here.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34840" y="1298448"/>
            <a:ext cx="5669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2984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Eng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1682496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682496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NHSBSA Drug Tariff parser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1901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Download current + 5 years of historical Drug Tariff PDFs. Parse to CSV. Store in SQLite.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34840" y="1773936"/>
            <a:ext cx="5669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7739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Eng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2157984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57984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85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NHSBSA Open Data concessions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2377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Pull all historical price concession records from NHSBSA Open Data Portal API (free).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34840" y="2249424"/>
            <a:ext cx="5669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249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Eng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633472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60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OpenPrescribing API connector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2852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n8n workflow pulling monthly Rx volumes for top-50 BNF codes. Free REST API.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34840" y="2724912"/>
            <a:ext cx="5669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Eng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3108960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108960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36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yfinance FX + Commodity feeds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33284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Daily GBP/INR, GBP/CNY, Brent crude via yfinance Python library. Schedule via n8n Code node.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34840" y="3200400"/>
            <a:ext cx="5669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Sci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584448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584448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11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Database schema design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38039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Define SQLite tables: molecules, tariff_prices, concessions, signals, recommendations.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34840" y="3675888"/>
            <a:ext cx="5669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3675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Eng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74320" y="4059936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059936"/>
            <a:ext cx="64008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Top-50 molecule watchlist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279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Filter molecules most frequently appearing in 2021–25 NHSBSA concession records. Prioritise high-volume generics.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34840" y="4151376"/>
            <a:ext cx="5669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PM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DECISIONS &amp; SPECS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12080" y="1207008"/>
            <a:ext cx="3657600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12435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Database: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37960" y="12435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SQLite (free, zero config)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212080" y="1682496"/>
            <a:ext cx="3657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21808" y="17190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Orchestration: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37960" y="1719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n8n Community (self-hosted, free)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12080" y="2157984"/>
            <a:ext cx="3657600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21808" y="2194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Concession history: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37960" y="21945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NHSBSA Open Data API: nhsbsa.nhs.uk/opendata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212080" y="2633472"/>
            <a:ext cx="3657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21808" y="26700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Drug Tariff: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37960" y="26700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NHSBSA monthly PDF + Open Data CSV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212080" y="3108960"/>
            <a:ext cx="3657600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21808" y="31455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Rx volumes: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537960" y="314553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openprescribing.net/api/1.0/spending/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212080" y="3584448"/>
            <a:ext cx="3657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21808" y="3621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FX rates: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537960" y="36210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yfinance: GBPINR=X, GBPCNY=X (free)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212080" y="4059936"/>
            <a:ext cx="3657600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1808" y="40965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Molecule count: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537960" y="40965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Top 50 by concession frequency (2021–25)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212080" y="4572000"/>
            <a:ext cx="36576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12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1 Gate: All data pipelines running. Molecule DB populated. Team can query live data.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Week 2 — Signal Engine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Turn raw data into intelligence signals. By end of week, every molecule has a live risk score based on automated signal inputs.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1097280" cy="228600"/>
          </a:xfrm>
          <a:prstGeom prst="rect">
            <a:avLst>
              <a:gd name="adj" fmla="val 12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2 / 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75488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7548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TASKS &amp; DELIVERABLES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4297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Unprofitable Floor Calculator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426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Per-molecule: find historical price at which shortages began. Alert when DT price approaches.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34840" y="1298448"/>
            <a:ext cx="566928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2984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Sci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1682496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682496"/>
            <a:ext cx="64008" cy="4297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Generic manufacturer count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1901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Parse NHSBSA Part VIIIA monthly to count active suppliers per molecule. Flag when ≤2.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34840" y="1773936"/>
            <a:ext cx="566928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7739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Eng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2157984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57984"/>
            <a:ext cx="64008" cy="4297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85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CPE concession scraper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2377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Scrape CPE website for current price concession list. Store and compare month-over-month.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34840" y="2249424"/>
            <a:ext cx="566928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249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Eng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633472"/>
            <a:ext cx="64008" cy="4297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60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NICE RSS feed watcher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2852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n8n HTTP Request node polling NICE appraisal RSS. Classify approvals vs rejections.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34840" y="2724912"/>
            <a:ext cx="566928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Eng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3108960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108960"/>
            <a:ext cx="64008" cy="4297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36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MHRA shortage alert scraper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33284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Scrape MHRA and gov.uk for active shortage notifications and Serious Shortage Protocols.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34840" y="3200400"/>
            <a:ext cx="566928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Eng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584448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584448"/>
            <a:ext cx="64008" cy="4297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11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Rules-based signal scoring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38039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Weighted scoring engine combining all active signals into 0–100 risk score per molecule.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34840" y="3675888"/>
            <a:ext cx="566928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3675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Sci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74320" y="4059936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059936"/>
            <a:ext cx="64008" cy="4297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Tier 1 + 2 signal monitor view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279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Simple table/grid showing each molecule's signal statuses (green/amber/red). Internal use only.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34840" y="4151376"/>
            <a:ext cx="566928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Full Stack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SIGNAL WEIGHTS (RULES-BASED v1)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12080" y="1207008"/>
            <a:ext cx="3657600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92440" y="1335024"/>
            <a:ext cx="685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92440" y="1335024"/>
            <a:ext cx="171450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08" y="1234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DaSH / Shortage Notifications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321808" y="14356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MHRA (free)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15200" y="131673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25%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212080" y="1682496"/>
            <a:ext cx="3657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92440" y="1810512"/>
            <a:ext cx="685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92440" y="1810512"/>
            <a:ext cx="137160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1808" y="1709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Wholesaler OOS Frequency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21808" y="191109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Manual / CPE proxy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315200" y="179222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20%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12080" y="2157984"/>
            <a:ext cx="3657600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92440" y="2286000"/>
            <a:ext cx="685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92440" y="2286000"/>
            <a:ext cx="102870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21808" y="2185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CPE Concession Volume Trend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321808" y="23865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CPE scrape (free)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315200" y="226771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15%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212080" y="2633472"/>
            <a:ext cx="3657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92440" y="2761488"/>
            <a:ext cx="685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92440" y="2761488"/>
            <a:ext cx="102870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21808" y="26609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Generic Manufacturer Count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321808" y="28620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NHSBSA Part VIIIA (free)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315200" y="27432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15%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212080" y="3108960"/>
            <a:ext cx="3657600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92440" y="3236976"/>
            <a:ext cx="685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92440" y="3236976"/>
            <a:ext cx="102870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21808" y="3136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DT Price vs Unprofitable Floor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321808" y="33375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NHSBSA + historical (free)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7315200" y="321868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15%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212080" y="3584448"/>
            <a:ext cx="3657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92440" y="3712464"/>
            <a:ext cx="685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92440" y="3712464"/>
            <a:ext cx="34290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21808" y="3611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GBP/INR + GBP/CNY Trend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321808" y="38130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yfinance (free)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7315200" y="369417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5%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212080" y="4059936"/>
            <a:ext cx="3657600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92440" y="4187952"/>
            <a:ext cx="685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092440" y="4187952"/>
            <a:ext cx="34290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321808" y="4087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Seasonal Calendar Position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321808" y="42885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Built-in date logic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315200" y="41696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5%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212080" y="4572000"/>
            <a:ext cx="365760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212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2 Gate: Every molecule has a live risk score. Alerts firing on threshold breaches.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Week 3 — Prediction Model &amp; Backtesting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Train a simple ML model on 5 years of historical data. Validate it against real concession events. Prove the prediction thesis.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1097280" cy="2286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3 / 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75488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7548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TASKS &amp; DELIVERABLES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Historical model training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426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scikit-learn GradientBoostingClassifier. Target: was price concession granted within 60 days? Train on 2020–24 data.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34840" y="1298448"/>
            <a:ext cx="56692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2984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Data Sci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74320" y="1682496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682496"/>
            <a:ext cx="64008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Backtesting: 2023–2025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1901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Replay historical signals for each molecule-month. Compare model predictions to actual NHSBSA concession records.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34840" y="1773936"/>
            <a:ext cx="56692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7739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Data Sci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74320" y="2157984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57984"/>
            <a:ext cx="64008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85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6-action buying recommendation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2377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Rules engine mapping risk score + signal pattern → Buy Forward / Buffer / Diversify / Hold / Switch / Monitor.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34840" y="2249424"/>
            <a:ext cx="56692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249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Data Sci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633472"/>
            <a:ext cx="64008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60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Push/pull force weighting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2852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Apply category-level multipliers from research (e.g. established generics 1.2x, branded 0.8x) to refine scores.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34840" y="2724912"/>
            <a:ext cx="56692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Data Sci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74320" y="3108960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108960"/>
            <a:ext cx="64008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36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Patent cliff detector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33284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Use DrugPatentWatch free tier + manual research to flag molecules within 18 months of patent expiry.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34840" y="3200400"/>
            <a:ext cx="56692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PM + Data Sci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74320" y="3584448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584448"/>
            <a:ext cx="64008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11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Alert threshold tuning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38039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Calibrate thresholds to minimise false positives. Target: ≤35% false positive rate. Adjust per molecule category.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34840" y="3675888"/>
            <a:ext cx="56692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3675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Data Sci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74320" y="4059936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059936"/>
            <a:ext cx="64008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Model accuracy report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279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Internal PDF report: precision, recall, F1 by category. Feed into stakeholder confidence-building conversation.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34840" y="4151376"/>
            <a:ext cx="56692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Data Sci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BACKTEST METHODOLOGY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12080" y="127101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669280" y="12252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Pull ground truth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69280" y="14447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Download all NHSBSA price concession records 2020–2025. Each row = molecule + month + whether concession was granted.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381244" y="1627632"/>
            <a:ext cx="0" cy="310896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212080" y="194767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208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669280" y="19019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Replay signals historically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669280" y="2121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For each molecule-month, reconstruct what signal scores would have been at that time using archived data.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381244" y="2304288"/>
            <a:ext cx="0" cy="310896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5212080" y="262432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669280" y="25786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Predict vs actual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669280" y="27980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Run model on historical signals. Did the model flag high risk ≥4 weeks before concession was granted?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381244" y="2980944"/>
            <a:ext cx="0" cy="310896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5212080" y="330098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1208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669280" y="32552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Measure accuracy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669280" y="3474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Precision, Recall, F1 per category. Report alongside false positive rate per signal weight combination.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381244" y="3657600"/>
            <a:ext cx="0" cy="310896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5212080" y="397764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1208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669280" y="3931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Find threshold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669280" y="41513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Identify the risk score cutoff that maximises useful alerts vs noise. This becomes the alert threshold for the PoC.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212080" y="4572000"/>
            <a:ext cx="36576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12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3 Gate: Model trained. Backtest report showing ≥50% accuracy. Buying logic working.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Week 4 — Dashboard, Demo &amp; Sign-Off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Build the interface procurement will actually use. Validate live predictions. Demo to stakeholders and agree Phase 2 scope.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1097280" cy="228600"/>
          </a:xfrm>
          <a:prstGeom prst="rect">
            <a:avLst>
              <a:gd name="adj" fmla="val 12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4 / 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75488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7548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TASKS &amp; DELIVERABLES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Streamlit dashboard — all screens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426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Home risk heatmap, Molecule Explorer, Signal Monitor, Buying Recommendations queue. Free Python library.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34840" y="1298448"/>
            <a:ext cx="56692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2984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Full Stack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74320" y="1682496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682496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Weekly email briefing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1901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Auto-generated summary email: top 5 at-risk molecules, active alerts, recommendations. Sent Mon 8am via n8n.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34840" y="1773936"/>
            <a:ext cx="56692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7739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Full Stack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74320" y="2157984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57984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85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Full integration test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2377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End-to-end test: data pipeline → signal scoring → model → recommendation → dashboard → alert. Fix all failures.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34840" y="2249424"/>
            <a:ext cx="56692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249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All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633472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60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Validated live predictions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2852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Identify ≥3 molecules currently showing elevated risk. Document predictions. Track outcomes over next 8 weeks.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34840" y="2724912"/>
            <a:ext cx="56692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PM + Data Sci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74320" y="3108960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108960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36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Procurement team demo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33284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45-minute demo to Head of Procurement + buyers. Walk through 3 real buying recommendations from the tool.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34840" y="3200400"/>
            <a:ext cx="56692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PM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74320" y="3584448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584448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11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Free vs paid data gap analysis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38039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Document: which signals need WaveData? What do we gain? What is the accuracy improvement estimate?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34840" y="3675888"/>
            <a:ext cx="56692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3675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PM + Data Sci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74320" y="4059936"/>
            <a:ext cx="4754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059936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Phase 2 scope sign-off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279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Agree WaveData budget, wholesaler API access, and ML model upgrade plan. Produce Phase 2 roadmap draft.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34840" y="4151376"/>
            <a:ext cx="56692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PM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STREAMLIT DASHBOARD SCREENS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12080" y="1207008"/>
            <a:ext cx="365760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12080" y="1207008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4960" y="12344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Home — Risk Heatmap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394960" y="1435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Top 10 at-risk molecules, active alerts, signal status overview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212080" y="1682496"/>
            <a:ext cx="3657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12080" y="1682496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1709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Molecule Explorer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394960" y="191109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Search + sort all 50 molecules by risk score, category, recommendation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212080" y="2157984"/>
            <a:ext cx="365760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2157984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94960" y="21854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Molecule Detail Page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394960" y="23865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Price chart, floor distance, signal breakdown, buying action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212080" y="2633472"/>
            <a:ext cx="3657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2633472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94960" y="2660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Signal Monitor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286207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All 57 signals with live status (green/amber/red) and last refresh time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212080" y="3108960"/>
            <a:ext cx="365760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12080" y="3108960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94960" y="3136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Buying Recommendations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394960" y="33375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Action queue sorted by urgency — Buy Forward, Buffer, Monitor etc.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212080" y="3584448"/>
            <a:ext cx="3657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12080" y="3584448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4960" y="3611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Alert Log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394960" y="38130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History of all fired alerts with molecule, signal trigger, and outcome tracking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212080" y="4059936"/>
            <a:ext cx="365760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12080" y="4059936"/>
            <a:ext cx="64008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94960" y="4087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Backtest Report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394960" y="428853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Model accuracy scorecard — builds stakeholder trust from Day 1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212080" y="4572000"/>
            <a:ext cx="36576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12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4 Gate: Live demo delivered. Phase 2 scope agreed. Procurement team using tool daily.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PoC Tech Stack — 100% Free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Every component is open-source or free-tier. No vendor lock-in. Easy to replace individual components in Phase 2.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188720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18872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DASHBOARD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850392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00200" y="850392"/>
            <a:ext cx="23317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9928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09928" y="1207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Python web UI, free, runs locally or on free Streamlit Cloud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50792" y="850392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50792" y="850392"/>
            <a:ext cx="23317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Plotly / Altair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1207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Interactive charts in Python, both open-source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01384" y="850392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01384" y="850392"/>
            <a:ext cx="23317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950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SMTP (n8n)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11112" y="1207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Weekly briefing email via n8n Email Send node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1828800"/>
            <a:ext cx="1188720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828800"/>
            <a:ext cx="118872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INTELLIGENCE LAYER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1874520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00200" y="1874520"/>
            <a:ext cx="23317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09928" y="1975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09928" y="2231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GradientBoostingClassifier for concession prediction, 100% free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50792" y="1874520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50792" y="1874520"/>
            <a:ext cx="23317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1975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pandas + numpy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60520" y="2231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Signal scoring, floor calculation, data manipulation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01384" y="1874520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01384" y="1874520"/>
            <a:ext cx="23317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1975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Custom rules engine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11112" y="2231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Python: 6-action buying recommendation logic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852928"/>
            <a:ext cx="1188720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852928"/>
            <a:ext cx="118872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ORCHESTRATION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2898648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600200" y="2898648"/>
            <a:ext cx="23317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09928" y="2999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n8n Community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09928" y="32552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Self-hosted workflow automation. Replaces £100s/mo of Zapier. Free forever.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050792" y="2898648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050792" y="2898648"/>
            <a:ext cx="23317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2999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Python Code Nodes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60520" y="32552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yfinance, pytrends, pandas all run inside n8n Code nodes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01384" y="2898648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501384" y="2898648"/>
            <a:ext cx="23317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11112" y="2999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Schedule / Webhook nodes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11112" y="32552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Daily FX updates, monthly Drug Tariff parse, live CPE alerts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877056"/>
            <a:ext cx="1188720" cy="8961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877056"/>
            <a:ext cx="118872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STORAGE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00200" y="3922776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600200" y="3922776"/>
            <a:ext cx="233172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09928" y="4023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SQLite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709928" y="42793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Zero-config, no server needed. Perfect for PoC scale (50 molecules).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050792" y="3922776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050792" y="3922776"/>
            <a:ext cx="233172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60520" y="4023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CSV flat files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160520" y="42793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NHSBSA Drug Tariff data, historical concessions — stored as plain CSVs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501384" y="3922776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501384" y="3922776"/>
            <a:ext cx="233172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11112" y="4023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</a:rPr>
              <a:t>PostgreSQL (Phase 2)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11112" y="42793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Migrate when scaling to 500+ molecules and multi-user access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Phase 2 upgrades: SQLite → PostgreSQL  |  Rules model → LightGBM ensemble  |  WaveData API (paid)  |  Cloud hosting  |  Wholesaler EDI feeds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Team &amp; Roles — Who Does What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Minimum viable team for a 4-week PoC. Roles can overlap if headcount is limited — priorities are clearly defined.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920240" cy="274320"/>
          </a:xfrm>
          <a:prstGeom prst="rect">
            <a:avLst/>
          </a:prstGeom>
          <a:solidFill>
            <a:srgbClr val="0F27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40280" y="804672"/>
            <a:ext cx="1417320" cy="274320"/>
          </a:xfrm>
          <a:prstGeom prst="rect">
            <a:avLst/>
          </a:prstGeom>
          <a:solidFill>
            <a:srgbClr val="0F27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804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03320" y="804672"/>
            <a:ext cx="1417320" cy="274320"/>
          </a:xfrm>
          <a:prstGeom prst="rect">
            <a:avLst/>
          </a:prstGeom>
          <a:solidFill>
            <a:srgbClr val="0F27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804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166360" y="804672"/>
            <a:ext cx="1417320" cy="274320"/>
          </a:xfrm>
          <a:prstGeom prst="rect">
            <a:avLst/>
          </a:prstGeom>
          <a:solidFill>
            <a:srgbClr val="0F27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804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29400" y="804672"/>
            <a:ext cx="1417320" cy="274320"/>
          </a:xfrm>
          <a:prstGeom prst="rect">
            <a:avLst/>
          </a:prstGeom>
          <a:solidFill>
            <a:srgbClr val="0F27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804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92440" y="804672"/>
            <a:ext cx="640080" cy="274320"/>
          </a:xfrm>
          <a:prstGeom prst="rect">
            <a:avLst/>
          </a:prstGeom>
          <a:solidFill>
            <a:srgbClr val="0F27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804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Alloc.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143000"/>
            <a:ext cx="192024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143000"/>
            <a:ext cx="64008" cy="8869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1795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Product Manager / Lead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143560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2744"/>
                </a:solidFill>
              </a:rPr>
              <a:t>Ani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40280" y="1143000"/>
            <a:ext cx="141732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95144" y="119786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Define molecule watchlist, data source audit, stakeholder alignment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703320" y="1143000"/>
            <a:ext cx="141732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19786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Signal priority decisions, requirements sign-off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166360" y="1143000"/>
            <a:ext cx="141732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1224" y="119786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Backtest review, buying logic validation, procurement team prep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629400" y="1143000"/>
            <a:ext cx="141732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84264" y="119786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Demo delivery, Phase 2 scope, gap analysis, roadmap update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092440" y="1143000"/>
            <a:ext cx="640080" cy="8869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1143000"/>
            <a:ext cx="640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2103120"/>
            <a:ext cx="192024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103120"/>
            <a:ext cx="64008" cy="8869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13969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Data Engineer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3957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369A1"/>
                </a:solidFill>
              </a:rPr>
              <a:t>TBC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40280" y="2103120"/>
            <a:ext cx="14173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95144" y="215798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n8n setup, NHSBSA parser, all data pipeline builds, SQLite schema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703320" y="2103120"/>
            <a:ext cx="14173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58184" y="215798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CPE scraper, MHRA scraper, NICE RSS, manufacturer count tracker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166360" y="2103120"/>
            <a:ext cx="14173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21224" y="215798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Historical data preparation, feature engineering, model pipeline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629400" y="2103120"/>
            <a:ext cx="14173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84264" y="215798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Integration testing, alert system hardening, email briefing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092440" y="2103120"/>
            <a:ext cx="640080" cy="8869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2103120"/>
            <a:ext cx="640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100%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3063240"/>
            <a:ext cx="192024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063240"/>
            <a:ext cx="64008" cy="8869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09981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Data Scientist / ML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1480" y="33558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</a:rPr>
              <a:t>TBC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240280" y="3063240"/>
            <a:ext cx="141732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95144" y="311810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yfinance setup, floor calculator design, signal weight research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03320" y="3063240"/>
            <a:ext cx="141732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58184" y="311810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Rules-based scoring engine, signal normalisation, risk scoring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166360" y="3063240"/>
            <a:ext cx="141732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21224" y="311810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Model training, backtesting, threshold calibration, accuracy report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629400" y="3063240"/>
            <a:ext cx="1417320" cy="8869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84264" y="311810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Live prediction validation, buying logic fine-tuning, documentation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092440" y="3063240"/>
            <a:ext cx="640080" cy="8869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92440" y="3063240"/>
            <a:ext cx="640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100%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74320" y="4023360"/>
            <a:ext cx="192024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4320" y="4023360"/>
            <a:ext cx="64008" cy="8869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05993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Full Stack / Frontend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" y="43159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</a:rPr>
              <a:t>TBC (or Data Eng)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240280" y="4023360"/>
            <a:ext cx="14173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95144" y="407822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Local server setup, SQLite integration, basic query interface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703320" y="4023360"/>
            <a:ext cx="14173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58184" y="407822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Internal signal table view, alert notification skeleton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166360" y="4023360"/>
            <a:ext cx="14173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21224" y="407822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Dashboard wireframes, Streamlit prototype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629400" y="4023360"/>
            <a:ext cx="14173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84264" y="407822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All 7 dashboard screens live, email template, QA and fixes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092440" y="4023360"/>
            <a:ext cx="640080" cy="8869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92440" y="4023360"/>
            <a:ext cx="640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60%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PoC Success Criteria — How We Know It's Working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The PoC is successful when all five criteria are met. Anything less is a learning — not a failure.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645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1645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96926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969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Data Pipelines 100% Automated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All 10 free data sources flowing into SQLite automatically via n8n. No manual downloads. Data freshness indicator shows all sources updated within expected refresh window.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3803904"/>
            <a:ext cx="14630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8039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0 manual data pulls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57400" y="804672"/>
            <a:ext cx="1645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804672"/>
            <a:ext cx="164592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969264"/>
            <a:ext cx="438912" cy="43891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0904" y="969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48840" y="151790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50+ Molecules Scored Live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2231136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Every molecule in the watchlist has a real-time risk score (0–100) calculated from live signal inputs. Scores update at minimum daily for Tier 2 signals.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48840" y="3803904"/>
            <a:ext cx="1463040" cy="228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38039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≥50 molecules scored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94760" y="804672"/>
            <a:ext cx="1645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94760" y="804672"/>
            <a:ext cx="1645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98264" y="96926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8264" y="969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86200" y="151790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Backtest Accuracy ≥50%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86200" y="2231136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Running the model against 2023–2025 NHSBSA concession history: the model correctly predicts ≥50% of price concession events at least 4 weeks before they were granted.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86200" y="3803904"/>
            <a:ext cx="14630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8039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≥50% precision/recall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32120" y="804672"/>
            <a:ext cx="1645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804672"/>
            <a:ext cx="16459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35624" y="969264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969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23560" y="151790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3 Live Validated Predictions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23560" y="2231136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At end of demo, the tool identifies ≥3 molecules currently at elevated risk. These are documented and tracked over the following 8 weeks to verify accuracy in the real world.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23560" y="3803904"/>
            <a:ext cx="146304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38039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3 live calls documented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269480" y="804672"/>
            <a:ext cx="1645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69480" y="804672"/>
            <a:ext cx="16459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72984" y="969264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72984" y="969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60920" y="151790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Procurement Team Using It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60920" y="2231136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Following the Week 4 demo, at least 2 members of the procurement team access the dashboard independently and act on ≥1 buying recommendation within 2 weeks of launch.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60920" y="3803904"/>
            <a:ext cx="146304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38039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≥1 action taken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PoC Risks &amp; Mitigations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4 weeks is tight. Here are the most likely blockers and exactly how we handle each one.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60520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225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50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NHSBSA historical data quality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859536"/>
            <a:ext cx="54864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859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L: Medium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40480" y="859536"/>
            <a:ext cx="53035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8595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I: High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8912" y="11155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PDF format changes or gaps in historical concession records may make backtesting unreliable.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" y="1453896"/>
            <a:ext cx="388620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4721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↳ Fix: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Cross-reference with CPE concession archive. Use NHSBSA Open Data CSV where available. Accept 3-year dataset if 5-year is incomplete.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4160520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64008" cy="1225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850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No wholesaler OOS data (free)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80960" y="859536"/>
            <a:ext cx="54864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859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L: High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275320" y="859536"/>
            <a:ext cx="53035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8595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I: Medium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73752" y="11155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AAH/Alliance OOS data requires wholesaler EDI access — not available for free in PoC.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73752" y="1453896"/>
            <a:ext cx="388620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14721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↳ Fix: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Use CPE price concession request volume as a strong proxy (pharmacies report OOS when requesting concessions). Flag as gap for Phase 2.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121408"/>
            <a:ext cx="4160520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121408"/>
            <a:ext cx="64008" cy="1225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167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Model cold start: low accuracy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176272"/>
            <a:ext cx="54864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L: Medium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840480" y="2176272"/>
            <a:ext cx="53035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217627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I: High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38912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Backtest accuracy may come in below 50% on first run — this could undermine stakeholder confidence.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8912" y="2770632"/>
            <a:ext cx="388620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2788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↳ Fix: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Pre-select molecule watchlist to include high-frequency concession drugs where historical signals are richest. Tune on these first. Exclude hard cases from PoC scope.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9160" y="2121408"/>
            <a:ext cx="4160520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121408"/>
            <a:ext cx="64008" cy="1225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2167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n8n pipeline failures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680960" y="2176272"/>
            <a:ext cx="54864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L: Medium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275320" y="2176272"/>
            <a:ext cx="53035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217627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I: Medium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873752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Scrapers break if CPE or MHRA change their HTML structure. Scheduled jobs may fail silently.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73752" y="2770632"/>
            <a:ext cx="388620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788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↳ Fix: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Build freshness indicators into dashboard — every data source shows last-updated timestamp. Alert when data age exceeds 2x expected refresh window.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3438144"/>
            <a:ext cx="4160520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3438144"/>
            <a:ext cx="64008" cy="1225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3483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Procurement team adoption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46120" y="3493008"/>
            <a:ext cx="54864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L: Medium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840480" y="3493008"/>
            <a:ext cx="53035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34930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I: High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38912" y="37490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Team may not trust or use the tool if early predictions are wrong or interface is confusing.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38912" y="4087368"/>
            <a:ext cx="388620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" y="41056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↳ Fix: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Involve 1 buyer as PoC tester from Week 2. Show backtest scorecard at demo. Focus Week 4 on the 3 live predictions — real wins build trust faster than accuracy metrics.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09160" y="3438144"/>
            <a:ext cx="4160520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09160" y="3438144"/>
            <a:ext cx="64008" cy="1225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3483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744"/>
                </a:solidFill>
              </a:rPr>
              <a:t>Scope creep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680960" y="3493008"/>
            <a:ext cx="54864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8096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L: High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275320" y="3493008"/>
            <a:ext cx="53035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75320" y="34930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I: Medium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873752" y="37490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Stakeholders may request adding Scotland/Wales signals, OTC drugs, or branded medicine coverage in Week 1.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73752" y="4087368"/>
            <a:ext cx="388620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65192" y="41056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↳ Fix: </a:t>
            </a:r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Strict 50-molecule, England-only, NHS generics scope for PoC. Everything else goes into a backlog. PM holds the line.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PoC to Production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What the PoC proves — and what paid data unlocks in Phase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3931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THE POC PROVES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09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Free data is enough to prove the thesis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965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NHSBSA + CPE + OpenPrescribing covers the most predictive signals (unprofitable floor, manufacturer count, concession volume).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49631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n8n can orchestrate all signals at scale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274320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The automation architecture in the PoC carries directly into production — no rebuild needed.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327355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3264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Rules-based model works for Phase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3520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60–70% accuracy is achievable with rules alone. ML gives 80%+ — but that requires more training data and WaveData history.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405079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Streamlit is fine for internal tool MVP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42976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Fast to build, easy to update, zero hosting cost. Upgrade to React/Next.js in Phase 3 if needed.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1325880"/>
            <a:ext cx="3931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WHAT PAID DATA UNLOCKS (PHASE 2)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691640"/>
            <a:ext cx="3931920" cy="694944"/>
          </a:xfrm>
          <a:prstGeom prst="rect">
            <a:avLst/>
          </a:prstGeom>
          <a:solidFill>
            <a:srgbClr val="132F5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691640"/>
            <a:ext cx="6400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746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WaveData API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0" y="1993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24 years of market prices → accurate unprofitable floor per molecule → +15–20% accuracy lift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459736"/>
            <a:ext cx="3931920" cy="694944"/>
          </a:xfrm>
          <a:prstGeom prst="rect">
            <a:avLst/>
          </a:prstGeom>
          <a:solidFill>
            <a:srgbClr val="132F5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459736"/>
            <a:ext cx="6400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514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Wholesaler EDI (AAH/Alliance)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0" y="2761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Real-time OOS notifications → Tier 2 signal most predictive of 1–3 month events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227832"/>
            <a:ext cx="3931920" cy="694944"/>
          </a:xfrm>
          <a:prstGeom prst="rect">
            <a:avLst/>
          </a:prstGeom>
          <a:solidFill>
            <a:srgbClr val="132F5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227832"/>
            <a:ext cx="6400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282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DaSH Portal (DHSC)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0" y="3529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6-month advance shortage warnings direct from manufacturers → Tier 1 critical signal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995928"/>
            <a:ext cx="3931920" cy="694944"/>
          </a:xfrm>
          <a:prstGeom prst="rect">
            <a:avLst/>
          </a:prstGeom>
          <a:solidFill>
            <a:srgbClr val="132F5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995928"/>
            <a:ext cx="6400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4050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LightGBM ML model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0" y="4297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Replace rules-based scoring. +10–15% accuracy over GradientBoosting with larger feature set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NPT Stock Intelligence Unit  |  PoC Roadmap  |  March 2026  |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NPT Drug Price Intelligence – PoC Roadmap</dc:title>
  <dc:subject>PptxGenJS Presentation</dc:subject>
  <dc:creator>NPT Stock Intelligence Unit</dc:creator>
  <cp:lastModifiedBy>NPT Stock Intelligence Unit</cp:lastModifiedBy>
  <cp:revision>1</cp:revision>
  <dcterms:created xsi:type="dcterms:W3CDTF">2026-03-05T22:28:56Z</dcterms:created>
  <dcterms:modified xsi:type="dcterms:W3CDTF">2026-03-05T22:28:56Z</dcterms:modified>
</cp:coreProperties>
</file>